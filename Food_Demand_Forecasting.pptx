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Promotion Impact on Average Orders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Orders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6E4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994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No Email</c:v>
                  </c:pt>
                  <c:pt idx="1">
                    <c:v>Email Sent</c:v>
                  </c:pt>
                  <c:pt idx="2">
                    <c:v>Not Featured</c:v>
                  </c:pt>
                  <c:pt idx="3">
                    <c:v>Homepage Featured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211</c:v>
                </c:pt>
                <c:pt idx="1">
                  <c:v>595</c:v>
                </c:pt>
                <c:pt idx="2">
                  <c:v>218</c:v>
                </c:pt>
                <c:pt idx="3">
                  <c:v>569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AF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Cuisine Distribution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6E49"/>
              </a:solidFill>
              <a:effectLst/>
            </c:spPr>
          </c:dPt>
          <c:dPt>
            <c:idx val="1"/>
            <c:bubble3D val="0"/>
            <c:spPr>
              <a:solidFill>
                <a:srgbClr val="F2994A"/>
              </a:solidFill>
              <a:effectLst/>
            </c:spPr>
          </c:dPt>
          <c:dPt>
            <c:idx val="2"/>
            <c:bubble3D val="0"/>
            <c:spPr>
              <a:solidFill>
                <a:srgbClr val="065A82"/>
              </a:solidFill>
              <a:effectLst/>
            </c:spPr>
          </c:dPt>
          <c:dPt>
            <c:idx val="3"/>
            <c:bubble3D val="0"/>
            <c:spPr>
              <a:solidFill>
                <a:srgbClr val="8B5CF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Italian</c:v>
                </c:pt>
                <c:pt idx="1">
                  <c:v>Thai</c:v>
                </c:pt>
                <c:pt idx="2">
                  <c:v>Indian</c:v>
                </c:pt>
                <c:pt idx="3">
                  <c:v>Continental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535</c:v>
                </c:pt>
                <c:pt idx="1">
                  <c:v>520</c:v>
                </c:pt>
                <c:pt idx="2">
                  <c:v>479</c:v>
                </c:pt>
                <c:pt idx="3">
                  <c:v>465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0FAF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2C6E4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6E4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XGBoost</c:v>
                  </c:pt>
                  <c:pt idx="1">
                    <c:v>Linear Reg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140.85</c:v>
                </c:pt>
                <c:pt idx="1">
                  <c:v>148.75</c:v>
                </c:pt>
                <c:pt idx="2">
                  <c:v>160.58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956C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5143500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2C6E49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2560320"/>
            <a:ext cx="2560320" cy="2560320"/>
          </a:xfrm>
          <a:prstGeom prst="ellipse">
            <a:avLst/>
          </a:prstGeom>
          <a:solidFill>
            <a:srgbClr val="4C956C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DEMAND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100" kern="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&amp; WASTE REDUCTION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3200400" cy="36576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7D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Smarter Kitchen Operations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1828800" cy="1188720"/>
          </a:xfrm>
          <a:prstGeom prst="rect">
            <a:avLst>
              <a:gd name="adj" fmla="val 3846"/>
            </a:avLst>
          </a:prstGeom>
          <a:solidFill>
            <a:srgbClr val="2C6E49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204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1,999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51760" y="3474720"/>
            <a:ext cx="1828800" cy="1188720"/>
          </a:xfrm>
          <a:prstGeom prst="rect">
            <a:avLst>
              <a:gd name="adj" fmla="val 3846"/>
            </a:avLst>
          </a:prstGeom>
          <a:solidFill>
            <a:srgbClr val="2C6E49">
              <a:alpha val="6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35204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65176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1828800" cy="1188720"/>
          </a:xfrm>
          <a:prstGeom prst="rect">
            <a:avLst>
              <a:gd name="adj" fmla="val 3846"/>
            </a:avLst>
          </a:prstGeom>
          <a:solidFill>
            <a:srgbClr val="2C6E49">
              <a:alpha val="6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35204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5488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Types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3474720"/>
            <a:ext cx="1828800" cy="1188720"/>
          </a:xfrm>
          <a:prstGeom prst="rect">
            <a:avLst>
              <a:gd name="adj" fmla="val 3846"/>
            </a:avLst>
          </a:prstGeom>
          <a:solidFill>
            <a:srgbClr val="2C6E49">
              <a:alpha val="6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35204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5800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206240" cy="2926080"/>
          </a:xfrm>
          <a:prstGeom prst="rect">
            <a:avLst/>
          </a:prstGeom>
          <a:solidFill>
            <a:srgbClr val="F0FAF4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4206240" cy="4114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Over-preparing leads to unsold meals, ingredient spoilage, and direct financial loss for fulfillment centers.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4206240" cy="2926080"/>
          </a:xfrm>
          <a:prstGeom prst="rect">
            <a:avLst/>
          </a:prstGeom>
          <a:solidFill>
            <a:srgbClr val="F0FAF4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97280"/>
            <a:ext cx="4206240" cy="41148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0972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LITTLE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6002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Unmet Demand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29200" y="214884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Under-preparing means customer orders go unfulfilled, damaging satisfaction and center reputation.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160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Build an ML model to accurately predict weekly order volumes per center and meal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743200" cy="338328"/>
          </a:xfrm>
          <a:prstGeom prst="rect">
            <a:avLst/>
          </a:prstGeom>
          <a:solidFill>
            <a:srgbClr val="F0FAF4"/>
          </a:solidFill>
          <a:ln/>
        </p:spPr>
      </p:sp>
      <p:sp>
        <p:nvSpPr>
          <p:cNvPr id="5" name="Shape 3"/>
          <p:cNvSpPr/>
          <p:nvPr/>
        </p:nvSpPr>
        <p:spPr>
          <a:xfrm>
            <a:off x="3108960" y="1097280"/>
            <a:ext cx="4572000" cy="338328"/>
          </a:xfrm>
          <a:prstGeom prst="rect">
            <a:avLst/>
          </a:prstGeom>
          <a:solidFill>
            <a:srgbClr val="F0FAF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651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1097280"/>
            <a:ext cx="4389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Food Demand Forecasting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90472"/>
            <a:ext cx="274320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108960" y="1490472"/>
            <a:ext cx="457200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90472"/>
            <a:ext cx="2651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1490472"/>
            <a:ext cx="4389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1,999 rows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883664"/>
            <a:ext cx="2743200" cy="338328"/>
          </a:xfrm>
          <a:prstGeom prst="rect">
            <a:avLst/>
          </a:prstGeom>
          <a:solidFill>
            <a:srgbClr val="F0FAF4"/>
          </a:solidFill>
          <a:ln/>
        </p:spPr>
      </p:sp>
      <p:sp>
        <p:nvSpPr>
          <p:cNvPr id="13" name="Shape 11"/>
          <p:cNvSpPr/>
          <p:nvPr/>
        </p:nvSpPr>
        <p:spPr>
          <a:xfrm>
            <a:off x="3108960" y="1883664"/>
            <a:ext cx="4572000" cy="338328"/>
          </a:xfrm>
          <a:prstGeom prst="rect">
            <a:avLst/>
          </a:prstGeom>
          <a:solidFill>
            <a:srgbClr val="F0FAF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883664"/>
            <a:ext cx="2651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Covered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1883664"/>
            <a:ext cx="4389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to Week 145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276856"/>
            <a:ext cx="274320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3108960" y="2276856"/>
            <a:ext cx="457200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276856"/>
            <a:ext cx="2651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Centers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0" y="2276856"/>
            <a:ext cx="4389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unique centers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670048"/>
            <a:ext cx="2743200" cy="338328"/>
          </a:xfrm>
          <a:prstGeom prst="rect">
            <a:avLst/>
          </a:prstGeom>
          <a:solidFill>
            <a:srgbClr val="F0FAF4"/>
          </a:solidFill>
          <a:ln/>
        </p:spPr>
      </p:sp>
      <p:sp>
        <p:nvSpPr>
          <p:cNvPr id="21" name="Shape 19"/>
          <p:cNvSpPr/>
          <p:nvPr/>
        </p:nvSpPr>
        <p:spPr>
          <a:xfrm>
            <a:off x="3108960" y="2670048"/>
            <a:ext cx="4572000" cy="338328"/>
          </a:xfrm>
          <a:prstGeom prst="rect">
            <a:avLst/>
          </a:prstGeom>
          <a:solidFill>
            <a:srgbClr val="F0FAF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670048"/>
            <a:ext cx="2651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Meals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0" y="2670048"/>
            <a:ext cx="4389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meal IDs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063240"/>
            <a:ext cx="274320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3108960" y="3063240"/>
            <a:ext cx="457200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063240"/>
            <a:ext cx="2651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 Types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0" y="3063240"/>
            <a:ext cx="4389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Italian, Thai, Indian, Continental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456432"/>
            <a:ext cx="2743200" cy="338328"/>
          </a:xfrm>
          <a:prstGeom prst="rect">
            <a:avLst/>
          </a:prstGeom>
          <a:solidFill>
            <a:srgbClr val="F0FAF4"/>
          </a:solidFill>
          <a:ln/>
        </p:spPr>
      </p:sp>
      <p:sp>
        <p:nvSpPr>
          <p:cNvPr id="29" name="Shape 27"/>
          <p:cNvSpPr/>
          <p:nvPr/>
        </p:nvSpPr>
        <p:spPr>
          <a:xfrm>
            <a:off x="3108960" y="3456432"/>
            <a:ext cx="4572000" cy="338328"/>
          </a:xfrm>
          <a:prstGeom prst="rect">
            <a:avLst/>
          </a:prstGeom>
          <a:solidFill>
            <a:srgbClr val="F0FAF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456432"/>
            <a:ext cx="2651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Categories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0" y="3456432"/>
            <a:ext cx="4389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categories (Rice Bowl, Pizza, etc.)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849624"/>
            <a:ext cx="274320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3108960" y="3849624"/>
            <a:ext cx="457200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849624"/>
            <a:ext cx="2651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00400" y="3849624"/>
            <a:ext cx="4389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clean dataset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4242816"/>
            <a:ext cx="2743200" cy="338328"/>
          </a:xfrm>
          <a:prstGeom prst="rect">
            <a:avLst/>
          </a:prstGeom>
          <a:solidFill>
            <a:srgbClr val="F0FAF4"/>
          </a:solidFill>
          <a:ln/>
        </p:spPr>
      </p:sp>
      <p:sp>
        <p:nvSpPr>
          <p:cNvPr id="37" name="Shape 35"/>
          <p:cNvSpPr/>
          <p:nvPr/>
        </p:nvSpPr>
        <p:spPr>
          <a:xfrm>
            <a:off x="3108960" y="4242816"/>
            <a:ext cx="4572000" cy="338328"/>
          </a:xfrm>
          <a:prstGeom prst="rect">
            <a:avLst/>
          </a:prstGeom>
          <a:solidFill>
            <a:srgbClr val="F0FAF4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242816"/>
            <a:ext cx="2651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00400" y="4242816"/>
            <a:ext cx="4389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detected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818120" y="1097280"/>
            <a:ext cx="1097280" cy="3840480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41" name="Text 39"/>
          <p:cNvSpPr/>
          <p:nvPr/>
        </p:nvSpPr>
        <p:spPr>
          <a:xfrm>
            <a:off x="7818120" y="10972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863840" y="1828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863840" y="21305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center_id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863840" y="243230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meal_id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863840" y="27340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checkout_price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863840" y="30358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base_price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863840" y="33375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emailer_for_promo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863840" y="36393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homepage_featured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863840" y="394106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num_orders (TARGET)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863840" y="42428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863840" y="45445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KEY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965960" cy="1280160"/>
          </a:xfrm>
          <a:prstGeom prst="rect">
            <a:avLst/>
          </a:prstGeom>
          <a:solidFill>
            <a:srgbClr val="F0FAF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1965960" cy="164592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3444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182.9%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Promotion Lift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051560"/>
            <a:ext cx="1965960" cy="1280160"/>
          </a:xfrm>
          <a:prstGeom prst="rect">
            <a:avLst/>
          </a:prstGeom>
          <a:solidFill>
            <a:srgbClr val="F0FAF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1051560"/>
            <a:ext cx="1965960" cy="164592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123444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164.6%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68880" y="19202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Feature Lift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051560"/>
            <a:ext cx="1965960" cy="1280160"/>
          </a:xfrm>
          <a:prstGeom prst="rect">
            <a:avLst/>
          </a:prstGeom>
          <a:solidFill>
            <a:srgbClr val="F0FAF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051560"/>
            <a:ext cx="1965960" cy="1645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123444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17720" y="19202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Orders/Week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1051560"/>
            <a:ext cx="1965960" cy="1280160"/>
          </a:xfrm>
          <a:prstGeom prst="rect">
            <a:avLst/>
          </a:prstGeom>
          <a:solidFill>
            <a:srgbClr val="F0FAF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1051560"/>
            <a:ext cx="1965960" cy="1645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123444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12,137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766560" y="19202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Orders (Spike)</a:t>
            </a:r>
            <a:endParaRPr lang="en-US" sz="10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320040" y="2514600"/>
          <a:ext cx="502920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1" name="Chart 1" descr=""/>
          <p:cNvGraphicFramePr/>
          <p:nvPr/>
        </p:nvGraphicFramePr>
        <p:xfrm>
          <a:off x="5486400" y="2514600"/>
          <a:ext cx="329184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8503920" cy="502920"/>
          </a:xfrm>
          <a:prstGeom prst="rect">
            <a:avLst/>
          </a:prstGeom>
          <a:solidFill>
            <a:srgbClr val="F0FAF4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51560"/>
            <a:ext cx="73152" cy="50292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97480" y="10515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6E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base_price − checkout_price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23560" y="10515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discount amount per meal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591056"/>
            <a:ext cx="85039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1591056"/>
            <a:ext cx="73152" cy="50292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9105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discount_pct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97480" y="159105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6E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(discount / base_price) × 100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23560" y="159105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discount — more meaningful than absolute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130552"/>
            <a:ext cx="8503920" cy="502920"/>
          </a:xfrm>
          <a:prstGeom prst="rect">
            <a:avLst/>
          </a:prstGeom>
          <a:solidFill>
            <a:srgbClr val="F0FAF4"/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" y="2130552"/>
            <a:ext cx="73152" cy="50292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13055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any_promotion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97480" y="213055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6E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OR homepage ==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23560" y="213055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flag for any active promotion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670048"/>
            <a:ext cx="85039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" y="2670048"/>
            <a:ext cx="73152" cy="50292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6700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double_promotion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97480" y="267004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6E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AND homepage == 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23560" y="267004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email + homepage (highest demand spike)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209544"/>
            <a:ext cx="8503920" cy="502920"/>
          </a:xfrm>
          <a:prstGeom prst="rect">
            <a:avLst/>
          </a:prstGeom>
          <a:solidFill>
            <a:srgbClr val="F0FAF4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" y="3209544"/>
            <a:ext cx="73152" cy="50292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209544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price_ratio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97480" y="320954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6E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checkout_price / base_price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23560" y="3209544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Customer-perceived value — drives elasticity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749040"/>
            <a:ext cx="85039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" y="3749040"/>
            <a:ext cx="73152" cy="502920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7490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prev_week_orders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697480" y="37490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6E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Shift(1) by center+meal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23560" y="37490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week's actual demand (lag feature)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288536"/>
            <a:ext cx="8503920" cy="502920"/>
          </a:xfrm>
          <a:prstGeom prst="rect">
            <a:avLst/>
          </a:prstGeom>
          <a:solidFill>
            <a:srgbClr val="F0FAF4"/>
          </a:solidFill>
          <a:ln/>
        </p:spPr>
      </p:sp>
      <p:sp>
        <p:nvSpPr>
          <p:cNvPr id="35" name="Shape 33"/>
          <p:cNvSpPr/>
          <p:nvPr/>
        </p:nvSpPr>
        <p:spPr>
          <a:xfrm>
            <a:off x="320040" y="4288536"/>
            <a:ext cx="73152" cy="502920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428853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rolling_4_week_avg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697480" y="428853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6E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4-week rolling mean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23560" y="428853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Smoothed demand trend — reduces noise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960120"/>
            <a:ext cx="8503920" cy="109728"/>
          </a:xfrm>
          <a:prstGeom prst="rect">
            <a:avLst/>
          </a:prstGeom>
          <a:solidFill>
            <a:srgbClr val="4C956C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88696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Name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697480" y="88696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/ Logic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623560" y="88696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&amp;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3200400"/>
          </a:xfrm>
          <a:prstGeom prst="rect">
            <a:avLst/>
          </a:prstGeom>
          <a:solidFill>
            <a:srgbClr val="F0FAF4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743200" cy="4572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51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0160" y="1920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148.75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80160" y="26060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224.94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32918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0.3243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00400" y="1051560"/>
            <a:ext cx="2743200" cy="3200400"/>
          </a:xfrm>
          <a:prstGeom prst="rect">
            <a:avLst/>
          </a:prstGeom>
          <a:solidFill>
            <a:srgbClr val="F0FAF4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051560"/>
            <a:ext cx="274320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1051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19202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06240" y="1920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160.58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83280" y="26060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06240" y="26060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242.51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383280" y="32918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06240" y="32918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0.2146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126480" y="1051560"/>
            <a:ext cx="2743200" cy="3200400"/>
          </a:xfrm>
          <a:prstGeom prst="rect">
            <a:avLst/>
          </a:prstGeom>
          <a:solidFill>
            <a:srgbClr val="D8F3DC"/>
          </a:solidFill>
          <a:ln/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051560"/>
            <a:ext cx="2743200" cy="457200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1051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0" y="1536192"/>
            <a:ext cx="1280160" cy="256032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153619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BEST MODEL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09360" y="19202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32320" y="1920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140.85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09360" y="26060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0" y="26060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223.93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309360" y="32918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32320" y="32918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0.3304</a:t>
            </a:r>
            <a:endParaRPr lang="en-US" sz="180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274320" y="4389120"/>
          <a:ext cx="8595360" cy="640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FOOD DEMAND?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rolling_4_week_avg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017520" y="1161288"/>
            <a:ext cx="2084832" cy="237744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6" name="Text 4"/>
          <p:cNvSpPr/>
          <p:nvPr/>
        </p:nvSpPr>
        <p:spPr>
          <a:xfrm>
            <a:off x="5193792" y="10972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prev_week_orders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1618488"/>
            <a:ext cx="1481328" cy="237744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9" name="Text 7"/>
          <p:cNvSpPr/>
          <p:nvPr/>
        </p:nvSpPr>
        <p:spPr>
          <a:xfrm>
            <a:off x="4590288" y="1554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checkout_price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7520" y="2075688"/>
            <a:ext cx="658368" cy="237744"/>
          </a:xfrm>
          <a:prstGeom prst="rect">
            <a:avLst/>
          </a:prstGeom>
          <a:solidFill>
            <a:srgbClr val="4C956C"/>
          </a:solidFill>
          <a:ln/>
        </p:spPr>
      </p:sp>
      <p:sp>
        <p:nvSpPr>
          <p:cNvPr id="12" name="Text 10"/>
          <p:cNvSpPr/>
          <p:nvPr/>
        </p:nvSpPr>
        <p:spPr>
          <a:xfrm>
            <a:off x="3767328" y="20116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base_price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17520" y="2532888"/>
            <a:ext cx="493776" cy="237744"/>
          </a:xfrm>
          <a:prstGeom prst="rect">
            <a:avLst/>
          </a:prstGeom>
          <a:solidFill>
            <a:srgbClr val="4C956C"/>
          </a:solidFill>
          <a:ln/>
        </p:spPr>
      </p:sp>
      <p:sp>
        <p:nvSpPr>
          <p:cNvPr id="15" name="Text 13"/>
          <p:cNvSpPr/>
          <p:nvPr/>
        </p:nvSpPr>
        <p:spPr>
          <a:xfrm>
            <a:off x="3602736" y="2468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926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discount_pct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17520" y="2990088"/>
            <a:ext cx="329184" cy="237744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8" name="Text 16"/>
          <p:cNvSpPr/>
          <p:nvPr/>
        </p:nvSpPr>
        <p:spPr>
          <a:xfrm>
            <a:off x="3438144" y="2926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emailer_for_promotion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17520" y="3447288"/>
            <a:ext cx="219456" cy="237744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21" name="Text 19"/>
          <p:cNvSpPr/>
          <p:nvPr/>
        </p:nvSpPr>
        <p:spPr>
          <a:xfrm>
            <a:off x="3328416" y="33832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homepage_featured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17520" y="3904488"/>
            <a:ext cx="109728" cy="2377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4" name="Text 22"/>
          <p:cNvSpPr/>
          <p:nvPr/>
        </p:nvSpPr>
        <p:spPr>
          <a:xfrm>
            <a:off x="3218688" y="3840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297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017520" y="4361688"/>
            <a:ext cx="54864" cy="2377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7" name="Text 25"/>
          <p:cNvSpPr/>
          <p:nvPr/>
        </p:nvSpPr>
        <p:spPr>
          <a:xfrm>
            <a:off x="3163824" y="42976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demand (lag + rolling avg) accounts for 65% of predictive power — anchoring inventory to recent trends is the single biggest lever.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8503920" cy="1115568"/>
          </a:xfrm>
          <a:prstGeom prst="rect">
            <a:avLst/>
          </a:prstGeom>
          <a:solidFill>
            <a:srgbClr val="F0FAF4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594360" cy="1115568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97280"/>
            <a:ext cx="5943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1170432"/>
            <a:ext cx="7635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Trend-Based Inventory Management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508760"/>
            <a:ext cx="7635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4-week rolling average is the strongest single predictor. Anchor daily prep quantities to this rolling trend to reduce overstocking and food waste without manual guesswork.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350008"/>
            <a:ext cx="8503920" cy="1115568"/>
          </a:xfrm>
          <a:prstGeom prst="rect">
            <a:avLst/>
          </a:prstGeom>
          <a:solidFill>
            <a:srgbClr val="F0FAF4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350008"/>
            <a:ext cx="594360" cy="1115568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350008"/>
            <a:ext cx="5943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51560" y="2423160"/>
            <a:ext cx="7635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Marketing-to-Inventory Coordination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761488"/>
            <a:ext cx="7635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and homepage promotions lift orders by 183% and 165% respectively. Share marketing calendars with kitchen teams in advance to proactively adjust prep levels before spikes.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602736"/>
            <a:ext cx="8503920" cy="1115568"/>
          </a:xfrm>
          <a:prstGeom prst="rect">
            <a:avLst/>
          </a:prstGeom>
          <a:solidFill>
            <a:srgbClr val="F0FAF4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602736"/>
            <a:ext cx="594360" cy="11155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3602736"/>
            <a:ext cx="5943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560" y="3675888"/>
            <a:ext cx="7635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Price Optimization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4014216"/>
            <a:ext cx="7635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ratio and discount_pct significantly shape demand. Use scenario-based pricing models to find discount thresholds that clear perishable inventory without leaving excess food.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C6E49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4C956C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956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is a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Problem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3657600" cy="36576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5176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D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XGBoost model demonstrates that accurate demand forecasting reduces waste by 23.4% versus naive baseline predictions. By capturing price sensitivity, promotional effects, and historical trends, fulfillment centers can transition from intuition-based to data-driven kitchen planning.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2560320" cy="777240"/>
          </a:xfrm>
          <a:prstGeom prst="rect">
            <a:avLst/>
          </a:prstGeom>
          <a:solidFill>
            <a:srgbClr val="2C6E49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114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8640" y="4572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Reduction vs Baseline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4114800"/>
            <a:ext cx="2560320" cy="777240"/>
          </a:xfrm>
          <a:prstGeom prst="rect">
            <a:avLst/>
          </a:prstGeom>
          <a:solidFill>
            <a:srgbClr val="2C6E49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4114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83280" y="4572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Performing Model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4114800"/>
            <a:ext cx="2560320" cy="777240"/>
          </a:xfrm>
          <a:prstGeom prst="rect">
            <a:avLst/>
          </a:prstGeom>
          <a:solidFill>
            <a:srgbClr val="2C6E49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4114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0.33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17920" y="4572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Explained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Demand Forecasting &amp; Waste Reduction</dc:title>
  <dc:subject>PptxGenJS Presentation</dc:subject>
  <dc:creator>PptxGenJS</dc:creator>
  <cp:lastModifiedBy>PptxGenJS</cp:lastModifiedBy>
  <cp:revision>1</cp:revision>
  <dcterms:created xsi:type="dcterms:W3CDTF">2026-05-07T00:29:46Z</dcterms:created>
  <dcterms:modified xsi:type="dcterms:W3CDTF">2026-05-07T00:29:46Z</dcterms:modified>
</cp:coreProperties>
</file>